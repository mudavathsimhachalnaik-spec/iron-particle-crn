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9" r:id="rId4"/>
    <p:sldId id="258" r:id="rId5"/>
    <p:sldId id="264" r:id="rId6"/>
    <p:sldId id="263" r:id="rId7"/>
    <p:sldId id="261" r:id="rId8"/>
    <p:sldId id="260" r:id="rId9"/>
    <p:sldId id="275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235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974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622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48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77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1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14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2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42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6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098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813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148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429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58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55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49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80911B9-B816-4853-9F2C-29C496F8A4CF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EC54975-2F22-4608-9F69-C94CE9164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17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3864-C547-8FF7-52D3-7902E605A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674" y="1462147"/>
            <a:ext cx="10259028" cy="2192517"/>
          </a:xfrm>
        </p:spPr>
        <p:txBody>
          <a:bodyPr>
            <a:normAutofit fontScale="90000"/>
          </a:bodyPr>
          <a:lstStyle/>
          <a:p>
            <a:r>
              <a:rPr lang="en-IN" sz="4800" b="1" dirty="0"/>
              <a:t>Chemical Reactor Network Modelling</a:t>
            </a:r>
            <a:br>
              <a:rPr lang="en-IN" sz="4800" b="1" dirty="0"/>
            </a:br>
            <a:r>
              <a:rPr lang="en-IN" sz="4800" b="1" dirty="0"/>
              <a:t>For Iron Particle Combustion</a:t>
            </a:r>
            <a:br>
              <a:rPr lang="en-IN" dirty="0"/>
            </a:br>
            <a:r>
              <a:rPr lang="en-IN" dirty="0"/>
              <a:t>                           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</a:rPr>
              <a:t>Bachelor Thesis Project – 1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8116B-ACBC-2A7E-C83E-03299321C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0358" y="4227652"/>
            <a:ext cx="6412375" cy="1913037"/>
          </a:xfrm>
        </p:spPr>
        <p:txBody>
          <a:bodyPr>
            <a:normAutofit/>
          </a:bodyPr>
          <a:lstStyle/>
          <a:p>
            <a:r>
              <a:rPr lang="en-IN" dirty="0"/>
              <a:t>Submitted by : Mudavath Simhachal (22MF3IM12)</a:t>
            </a:r>
          </a:p>
          <a:p>
            <a:r>
              <a:rPr lang="en-IN" dirty="0"/>
              <a:t>Supervisor Prof : </a:t>
            </a:r>
            <a:r>
              <a:rPr lang="en-IN" b="1" dirty="0"/>
              <a:t>Mani Kalyani </a:t>
            </a:r>
            <a:r>
              <a:rPr lang="en-IN" b="1" dirty="0" err="1"/>
              <a:t>Ambatipudi</a:t>
            </a:r>
            <a:endParaRPr lang="en-IN" b="1" dirty="0"/>
          </a:p>
          <a:p>
            <a:r>
              <a:rPr lang="en-IN" b="1" dirty="0"/>
              <a:t>Department of Mechanical Engineering</a:t>
            </a:r>
          </a:p>
          <a:p>
            <a:r>
              <a:rPr lang="en-IN" dirty="0"/>
              <a:t>IIT Kharagpur, March 2026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21BFDC8-B927-4AB3-C135-28B2BE5F5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709" y="3763859"/>
            <a:ext cx="1395167" cy="15071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021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9770-EA10-786C-8EBE-F0CEC7147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804"/>
            <a:ext cx="10515600" cy="1325563"/>
          </a:xfrm>
          <a:noFill/>
        </p:spPr>
        <p:txBody>
          <a:bodyPr>
            <a:normAutofit/>
          </a:bodyPr>
          <a:lstStyle/>
          <a:p>
            <a:r>
              <a:rPr lang="en-IN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93AC39-DA71-825F-5796-DA777653D5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315" y="2013941"/>
            <a:ext cx="832086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Metal fuels such as iron powder are promising alternatives for clean energy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When iron reacts with oxygen, it releases significant heat energy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Iron combustion can be used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carbon-free energy systems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Iron powder is especially promising due to its practicality </a:t>
            </a:r>
          </a:p>
        </p:txBody>
      </p:sp>
    </p:spTree>
    <p:extLst>
      <p:ext uri="{BB962C8B-B14F-4D97-AF65-F5344CB8AC3E}">
        <p14:creationId xmlns:p14="http://schemas.microsoft.com/office/powerpoint/2010/main" val="382036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7B9B-C566-AC2C-5A3A-3D76A48D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6" y="908623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Challenges in modelling Iron Combustion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237A1-097B-EE36-1EFD-6EC9AA49E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6" y="2362200"/>
            <a:ext cx="9113838" cy="36576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Multi-phase system (solid + gas)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processes: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Heating, melting, oxidation, evaporation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Oxidation pathway: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 → </a:t>
            </a:r>
            <a:r>
              <a:rPr lang="en-IN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FeO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IN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Fe₃O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₄ → </a:t>
            </a:r>
            <a:r>
              <a:rPr lang="en-IN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Fe₂O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₃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coupling between heat, mass transfer, and reactions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Direct simulation is complex and computationally expensive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F919D-F548-51F9-33A7-C23834058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210" y="2289447"/>
            <a:ext cx="3932261" cy="26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95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DD11-BC54-3E44-0803-4BD6899C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27" y="646012"/>
            <a:ext cx="10515600" cy="1270040"/>
          </a:xfrm>
        </p:spPr>
        <p:txBody>
          <a:bodyPr>
            <a:normAutofit/>
          </a:bodyPr>
          <a:lstStyle/>
          <a:p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Why Iron Is A Good Fuel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7CDDA-36FB-8799-432E-9C49DE984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552" y="2216150"/>
            <a:ext cx="10515600" cy="447679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Non-toxic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energy density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Already produced in large quantities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recycled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Iron cycle: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Iron → Burn → Iron Oxide → Recycle using Hydrogen → Iron again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creates a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circular energy system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4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4518-36D6-7780-7886-04423837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284"/>
            <a:ext cx="10515600" cy="94310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Experimental</a:t>
            </a:r>
            <a:r>
              <a:rPr lang="en-IN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Setup</a:t>
            </a:r>
            <a:r>
              <a:rPr lang="en-IN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F3604-3177-5330-08EC-DBE895541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3927"/>
            <a:ext cx="9459012" cy="44714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Setup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Laboratory-scale combustion chamber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Methane-assisted iron dust flame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Swirling air flow for mixing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 of study: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flame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oxygen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pollutant formation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compared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CFD simulations and LES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2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6335-787E-5FBE-1E07-B2DDEE1B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Models Used in Study :</a:t>
            </a:r>
            <a:endParaRPr lang="en-IN" sz="3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568C-AC53-31E0-0B97-A582F1872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14575"/>
            <a:ext cx="10515600" cy="48069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oxidation models.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1. FOSK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Order Surface Kinetics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oxidation occurs at the particle surface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reaction depends on oxygen diffusion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2. Reactive Cooling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considers layered oxide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evaporation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captures detailed particle physics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models simulate iron particle conversion during combustion.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53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03FA-2E17-8D74-B3EE-22850189D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What is a Chemical Reactor Network (CRN)?</a:t>
            </a:r>
            <a:endParaRPr lang="en-IN" sz="3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B19C-E485-631B-4D62-D87C656C2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5" y="2347913"/>
            <a:ext cx="9782175" cy="4510087"/>
          </a:xfrm>
          <a:noFill/>
          <a:ln>
            <a:solidFill>
              <a:schemeClr val="bg2"/>
            </a:solidFill>
          </a:ln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CRN is a combination of simple reactors used to represent a complex combustion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Reactor types 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1. Perfectly Stirred Reactor (PSR)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mixing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recirculation zones                                                            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2. Plug Flow Reactor (PFR)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One-directional (plug) 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axial mixing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PSR + PFR together simulate real combustion chamber </a:t>
            </a:r>
            <a:r>
              <a:rPr lang="en-IN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CRN has been successfully applied to iron particle combustion in literature</a:t>
            </a:r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57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4FA1-32B5-2DF8-9B18-817341F4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129" y="926043"/>
            <a:ext cx="8761413" cy="706964"/>
          </a:xfrm>
        </p:spPr>
        <p:txBody>
          <a:bodyPr>
            <a:normAutofit/>
          </a:bodyPr>
          <a:lstStyle/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Objective of This Work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F935C-A8F2-8640-AE5C-891D2DF59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129" y="2384425"/>
            <a:ext cx="8825659" cy="34163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CRN models for iron combustion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cost than CFD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iron combustion is highly complex due to multi-phase interactions.</a:t>
            </a: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450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B0A7-8E8F-BB97-2BBE-6D3076E2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176" y="1058094"/>
            <a:ext cx="6697950" cy="628788"/>
          </a:xfrm>
        </p:spPr>
        <p:txBody>
          <a:bodyPr>
            <a:no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0D Reactor as a starting </a:t>
            </a:r>
            <a:r>
              <a:rPr lang="en-IN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point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E5E73-ECB6-4828-6DA1-8C84A90D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376" y="2646942"/>
            <a:ext cx="10515600" cy="57646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0D Ideal Gas Reactor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used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Perfect mixing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spatial variation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time-dependent changes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0D reactor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Basically similar to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PSR concept (perfect mixing)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simplest reactor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as the simplest CRN element to understand combustion behavior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43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C746-53A6-A2BE-2FA3-1011D05E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7730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Conclusions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B988B-51F1-E9D2-D864-540BA8B5D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29" y="2302088"/>
            <a:ext cx="10515600" cy="474414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Literature (Iron CRN):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CRN models iron combustion effectively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Oxygen controls reaction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affects NOx &amp; evaporation</a:t>
            </a:r>
            <a:r>
              <a:rPr lang="en-US" sz="2000" dirty="0"/>
              <a:t>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Particle size affects evaporation </a:t>
            </a:r>
          </a:p>
        </p:txBody>
      </p:sp>
    </p:spTree>
    <p:extLst>
      <p:ext uri="{BB962C8B-B14F-4D97-AF65-F5344CB8AC3E}">
        <p14:creationId xmlns:p14="http://schemas.microsoft.com/office/powerpoint/2010/main" val="383899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CC2E-7B9C-B879-A429-E0E6C94E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r>
              <a:rPr lang="en-IN" dirty="0"/>
              <a:t>                               </a:t>
            </a:r>
            <a:r>
              <a:rPr lang="en-IN" sz="5000" b="1" dirty="0">
                <a:solidFill>
                  <a:schemeClr val="tx1"/>
                </a:solidFill>
                <a:latin typeface="Book Antiqua" panose="02040602050305030304" pitchFamily="18" charset="0"/>
              </a:rPr>
              <a:t>Thank you 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D46A-317B-5EA8-B7B4-24740ED6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1609"/>
            <a:ext cx="10515600" cy="19753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    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412343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4476</TotalTime>
  <Words>467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Book Antiqua</vt:lpstr>
      <vt:lpstr>Calibri</vt:lpstr>
      <vt:lpstr>Calibri Light</vt:lpstr>
      <vt:lpstr>Cambria Math</vt:lpstr>
      <vt:lpstr>Century Gothic</vt:lpstr>
      <vt:lpstr>Wingdings</vt:lpstr>
      <vt:lpstr>Wingdings 3</vt:lpstr>
      <vt:lpstr>Ion Boardroom</vt:lpstr>
      <vt:lpstr>Chemical Reactor Network Modelling For Iron Particle Combustion                             Bachelor Thesis Project – 1</vt:lpstr>
      <vt:lpstr>Introduction</vt:lpstr>
      <vt:lpstr>Challenges in modelling Iron Combustion</vt:lpstr>
      <vt:lpstr>Why Iron Is A Good Fuel</vt:lpstr>
      <vt:lpstr>Experimental Setup : </vt:lpstr>
      <vt:lpstr>Models Used in Study :</vt:lpstr>
      <vt:lpstr>What is a Chemical Reactor Network (CRN)?</vt:lpstr>
      <vt:lpstr>Objective of This Work</vt:lpstr>
      <vt:lpstr>0D Reactor as a starting point</vt:lpstr>
      <vt:lpstr>Conclusions :</vt:lpstr>
      <vt:lpstr>            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Mudavath Simhachal Naik</dc:creator>
  <cp:lastModifiedBy>Mudavath Simhachal Naik</cp:lastModifiedBy>
  <cp:revision>6</cp:revision>
  <dcterms:created xsi:type="dcterms:W3CDTF">2026-03-16T18:09:59Z</dcterms:created>
  <dcterms:modified xsi:type="dcterms:W3CDTF">2026-04-17T05:36:56Z</dcterms:modified>
</cp:coreProperties>
</file>